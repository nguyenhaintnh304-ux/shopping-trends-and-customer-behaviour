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Source Sans 3" panose="020B0604020202020204" charset="0"/>
      <p:regular r:id="rId13"/>
    </p:embeddedFont>
    <p:embeddedFont>
      <p:font typeface="Source Serif 4 Semi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6330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2373511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kern="0" spc="-74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Shopping </a:t>
            </a:r>
            <a:r>
              <a:rPr lang="en-US" sz="3650" kern="0" spc="-74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Trends </a:t>
            </a:r>
            <a:r>
              <a:rPr lang="vi-VN" sz="3650" kern="0" spc="-74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And</a:t>
            </a:r>
            <a:r>
              <a:rPr lang="en-US" sz="3650" kern="0" spc="-74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 </a:t>
            </a:r>
            <a:r>
              <a:rPr lang="en-US" sz="3650" kern="0" spc="-74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Customer Behaviour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69971" y="3846016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Analysis of 3,900 transactions to reveal spending trends, customer segments, product preferences and membership patterns to inform strategic decisions.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876201"/>
            <a:ext cx="6223638" cy="577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kern="0" spc="-73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Dataset Overview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698086" y="1743670"/>
            <a:ext cx="1945631" cy="4238129"/>
          </a:xfrm>
          <a:prstGeom prst="roundRect">
            <a:avLst>
              <a:gd name="adj" fmla="val 4239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00784" y="1946374"/>
            <a:ext cx="1540233" cy="577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6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Rows &amp; Columns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00784" y="2639715"/>
            <a:ext cx="1540233" cy="155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50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3,900 rows × 18 columns covering demographics, purchase details and behaviour.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836990" y="1743670"/>
            <a:ext cx="1945730" cy="4238129"/>
          </a:xfrm>
          <a:prstGeom prst="roundRect">
            <a:avLst>
              <a:gd name="adj" fmla="val 4239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039689" y="1946374"/>
            <a:ext cx="1540333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6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Key Features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039689" y="2350988"/>
            <a:ext cx="1540333" cy="3428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50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Age, gender, location, subscription status, item, category, amount, season, size, colour, review rating, shipping, discounts, previous purchases, frequency, payment method.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975993" y="1743670"/>
            <a:ext cx="1945631" cy="4238129"/>
          </a:xfrm>
          <a:prstGeom prst="roundRect">
            <a:avLst>
              <a:gd name="adj" fmla="val 4239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178692" y="1946374"/>
            <a:ext cx="1540233" cy="577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6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Summary Stats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178692" y="2639715"/>
            <a:ext cx="1436117" cy="155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en-US" sz="1500" kern="0" spc="-3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 Mean </a:t>
            </a:r>
            <a:r>
              <a:rPr lang="en-US" sz="150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purchase: $</a:t>
            </a:r>
            <a:r>
              <a:rPr lang="en-US" sz="1500" kern="0" spc="-3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59.76 </a:t>
            </a:r>
            <a:endParaRPr lang="vi-VN" sz="1500" kern="0" spc="-31">
              <a:solidFill>
                <a:srgbClr val="272525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 algn="l">
              <a:lnSpc>
                <a:spcPct val="132000"/>
              </a:lnSpc>
              <a:buNone/>
            </a:pPr>
            <a:r>
              <a:rPr lang="en-US" sz="1500" kern="0" spc="-3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 </a:t>
            </a:r>
            <a:r>
              <a:rPr lang="en-US" sz="150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Avg age: </a:t>
            </a:r>
            <a:r>
              <a:rPr lang="en-US" sz="1500" kern="0" spc="-3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44.07 </a:t>
            </a:r>
            <a:endParaRPr lang="vi-VN" sz="1500" kern="0" spc="-31">
              <a:solidFill>
                <a:srgbClr val="272525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 algn="l">
              <a:lnSpc>
                <a:spcPct val="132000"/>
              </a:lnSpc>
              <a:buNone/>
            </a:pPr>
            <a:r>
              <a:rPr lang="en-US" sz="1500" kern="0" spc="-3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 </a:t>
            </a:r>
            <a:r>
              <a:rPr lang="en-US" sz="150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Avg rating: </a:t>
            </a:r>
            <a:r>
              <a:rPr lang="en-US" sz="1500" kern="0" spc="-3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3.75 </a:t>
            </a:r>
            <a:endParaRPr lang="vi-VN" sz="1500" kern="0" spc="-31">
              <a:solidFill>
                <a:srgbClr val="272525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 algn="l">
              <a:lnSpc>
                <a:spcPct val="132000"/>
              </a:lnSpc>
              <a:buNone/>
            </a:pPr>
            <a:r>
              <a:rPr lang="en-US" sz="1500" kern="0" spc="-3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 </a:t>
            </a:r>
            <a:r>
              <a:rPr lang="en-US" sz="150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Frequency mean: 89 days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1026140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kern="0" spc="-74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Data Preparation (Python)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2373549"/>
            <a:ext cx="6223638" cy="2587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Standard workflow</a:t>
            </a:r>
            <a:r>
              <a:rPr lang="en-US" sz="1550" kern="0" spc="-3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</a:t>
            </a:r>
            <a:endParaRPr lang="vi-VN" sz="1550" kern="0" spc="-31">
              <a:solidFill>
                <a:srgbClr val="272525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285750" indent="-285750" algn="l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550" kern="0" spc="-3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import </a:t>
            </a: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with pandas</a:t>
            </a:r>
            <a:r>
              <a:rPr lang="en-US" sz="1550" kern="0" spc="-3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endParaRPr lang="vi-VN" sz="1550" kern="0" spc="-31">
              <a:solidFill>
                <a:srgbClr val="272525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285750" indent="-285750" algn="l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550" kern="0" spc="-3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inspect </a:t>
            </a: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with df.info() and describe</a:t>
            </a:r>
            <a:r>
              <a:rPr lang="en-US" sz="1550" kern="0" spc="-3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(), </a:t>
            </a:r>
            <a:endParaRPr lang="vi-VN" sz="1550" kern="0" spc="-31">
              <a:solidFill>
                <a:srgbClr val="272525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285750" indent="-285750" algn="l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550" kern="0" spc="-3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standardise </a:t>
            </a: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column names to snake_case</a:t>
            </a:r>
            <a:r>
              <a:rPr lang="en-US" sz="1550" kern="0" spc="-3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endParaRPr lang="vi-VN" sz="1550" kern="0" spc="-31">
              <a:solidFill>
                <a:srgbClr val="272525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285750" indent="-285750" algn="l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550" kern="0" spc="-3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derive </a:t>
            </a: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age_group and purchase_frequency_days</a:t>
            </a:r>
            <a:r>
              <a:rPr lang="en-US" sz="1550" kern="0" spc="-3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endParaRPr lang="vi-VN" sz="1550" kern="0" spc="-31">
              <a:solidFill>
                <a:srgbClr val="272525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285750" indent="-285750" algn="l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550" kern="0" spc="-3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check </a:t>
            </a: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consistency between discount_applied and promo_code_used and remove promo_code_used</a:t>
            </a:r>
            <a:r>
              <a:rPr lang="en-US" sz="1550" kern="0" spc="-3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endParaRPr lang="vi-VN" sz="1550" kern="0" spc="-31">
              <a:solidFill>
                <a:srgbClr val="272525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285750" indent="-285750" algn="l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550" kern="0" spc="-3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export </a:t>
            </a: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CSV and load to SQL Server.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06562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kern="0" spc="-74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Revenue by Gender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325" b="3862"/>
          <a:stretch>
            <a:fillRect/>
          </a:stretch>
        </p:blipFill>
        <p:spPr>
          <a:xfrm>
            <a:off x="698086" y="1991816"/>
            <a:ext cx="5154484" cy="34435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5476" y="1991816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Insight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345476" y="2484537"/>
            <a:ext cx="5154484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Male customers generated substantially more </a:t>
            </a:r>
            <a:r>
              <a:rPr lang="en-US" sz="1550" kern="0" spc="-3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revenue (</a:t>
            </a:r>
            <a:r>
              <a:rPr lang="vi-VN" sz="1550" kern="0" spc="-3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</a:t>
            </a:r>
            <a:r>
              <a:rPr lang="en-US" sz="1550" kern="0" spc="-3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157,890</a:t>
            </a: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 than female </a:t>
            </a:r>
            <a:r>
              <a:rPr lang="en-US" sz="1550" kern="0" spc="-3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customers (</a:t>
            </a:r>
            <a:r>
              <a:rPr lang="vi-VN" sz="1550" kern="0" spc="-3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</a:t>
            </a:r>
            <a:r>
              <a:rPr lang="en-US" sz="1550" kern="0" spc="-3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75,191</a:t>
            </a: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). Consider targeted offers and product mixes by gender.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301254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kern="0" spc="-74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Discount Behaviour &amp; High Spenders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2411413"/>
            <a:ext cx="5154484" cy="2920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5476" y="2802632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Top discounted spenders (examples)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345476" y="3295352"/>
            <a:ext cx="5154484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Multiple customers used discounts yet spent ≥ top order value (sample top IDs with purchase_amount=100). Review discount policy: high spend persists despite promotions.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345476" y="4432399"/>
            <a:ext cx="515448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 IDs: 43, 96, 194, 205, 244, 249, 456, 519, 582, 616 (purchase_amount 100)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366143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650" kern="0" spc="-74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Top-Rated &amp; Discount-Dependent Products</a:t>
            </a:r>
            <a:endParaRPr lang="en-US" sz="365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B1A3C22-682D-7429-9AE6-6DA88A4ABF31}"/>
              </a:ext>
            </a:extLst>
          </p:cNvPr>
          <p:cNvGrpSpPr/>
          <p:nvPr/>
        </p:nvGrpSpPr>
        <p:grpSpPr>
          <a:xfrm>
            <a:off x="1499952" y="2339742"/>
            <a:ext cx="2511858" cy="1051321"/>
            <a:chOff x="698086" y="2351782"/>
            <a:chExt cx="2511858" cy="1051321"/>
          </a:xfrm>
        </p:grpSpPr>
        <p:pic>
          <p:nvPicPr>
            <p:cNvPr id="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8086" y="2351782"/>
              <a:ext cx="552535" cy="690662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1499952" y="2351782"/>
              <a:ext cx="1709992" cy="293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800" kern="0" spc="-37" dirty="0">
                  <a:solidFill>
                    <a:srgbClr val="272525"/>
                  </a:solidFill>
                  <a:latin typeface="Source Serif 4 SemiBold" pitchFamily="34" charset="0"/>
                  <a:ea typeface="Source Serif 4 SemiBold" pitchFamily="34" charset="-122"/>
                  <a:cs typeface="Source Serif 4 SemiBold" pitchFamily="34" charset="-120"/>
                </a:rPr>
                <a:t>Gloves</a:t>
              </a:r>
              <a:endParaRPr lang="en-US" sz="1800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1499952" y="2764730"/>
              <a:ext cx="1709992" cy="6383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550" kern="0" spc="-31" dirty="0">
                  <a:solidFill>
                    <a:srgbClr val="272525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Avg rating 3.86 • Discount rate 50%</a:t>
              </a:r>
              <a:endParaRPr lang="en-US" sz="155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55068AB-D93F-A996-159F-6D77D328DDE6}"/>
              </a:ext>
            </a:extLst>
          </p:cNvPr>
          <p:cNvGrpSpPr/>
          <p:nvPr/>
        </p:nvGrpSpPr>
        <p:grpSpPr>
          <a:xfrm>
            <a:off x="4840072" y="2223010"/>
            <a:ext cx="2511858" cy="1370508"/>
            <a:chOff x="3459274" y="2351782"/>
            <a:chExt cx="2511858" cy="1370508"/>
          </a:xfrm>
        </p:grpSpPr>
        <p:pic>
          <p:nvPicPr>
            <p:cNvPr id="6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59274" y="2351782"/>
              <a:ext cx="552535" cy="690662"/>
            </a:xfrm>
            <a:prstGeom prst="rect">
              <a:avLst/>
            </a:prstGeom>
          </p:spPr>
        </p:pic>
        <p:sp>
          <p:nvSpPr>
            <p:cNvPr id="7" name="Text 3"/>
            <p:cNvSpPr/>
            <p:nvPr/>
          </p:nvSpPr>
          <p:spPr>
            <a:xfrm>
              <a:off x="4261140" y="2351782"/>
              <a:ext cx="1709992" cy="293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800" kern="0" spc="-37" dirty="0">
                  <a:solidFill>
                    <a:srgbClr val="272525"/>
                  </a:solidFill>
                  <a:latin typeface="Source Serif 4 SemiBold" pitchFamily="34" charset="0"/>
                  <a:ea typeface="Source Serif 4 SemiBold" pitchFamily="34" charset="-122"/>
                  <a:cs typeface="Source Serif 4 SemiBold" pitchFamily="34" charset="-120"/>
                </a:rPr>
                <a:t>Sandals</a:t>
              </a:r>
              <a:endParaRPr lang="en-US" sz="1800" dirty="0"/>
            </a:p>
          </p:txBody>
        </p:sp>
        <p:sp>
          <p:nvSpPr>
            <p:cNvPr id="8" name="Text 4"/>
            <p:cNvSpPr/>
            <p:nvPr/>
          </p:nvSpPr>
          <p:spPr>
            <a:xfrm>
              <a:off x="4261140" y="2764730"/>
              <a:ext cx="1709992" cy="957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550" kern="0" spc="-31" dirty="0">
                  <a:solidFill>
                    <a:srgbClr val="272525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Avg rating 3.84 • Discount rate high (49.66%)</a:t>
              </a:r>
              <a:endParaRPr lang="en-US" sz="155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8ADD050-3EEE-D585-0F2E-C3E46939721E}"/>
              </a:ext>
            </a:extLst>
          </p:cNvPr>
          <p:cNvGrpSpPr/>
          <p:nvPr/>
        </p:nvGrpSpPr>
        <p:grpSpPr>
          <a:xfrm>
            <a:off x="8180193" y="2254505"/>
            <a:ext cx="2511858" cy="1370508"/>
            <a:chOff x="6220463" y="2351782"/>
            <a:chExt cx="2511858" cy="1370508"/>
          </a:xfrm>
        </p:grpSpPr>
        <p:pic>
          <p:nvPicPr>
            <p:cNvPr id="9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20463" y="2351782"/>
              <a:ext cx="552535" cy="690662"/>
            </a:xfrm>
            <a:prstGeom prst="rect">
              <a:avLst/>
            </a:prstGeom>
          </p:spPr>
        </p:pic>
        <p:sp>
          <p:nvSpPr>
            <p:cNvPr id="10" name="Text 5"/>
            <p:cNvSpPr/>
            <p:nvPr/>
          </p:nvSpPr>
          <p:spPr>
            <a:xfrm>
              <a:off x="7022329" y="2351782"/>
              <a:ext cx="1709992" cy="293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800" kern="0" spc="-37" dirty="0">
                  <a:solidFill>
                    <a:srgbClr val="272525"/>
                  </a:solidFill>
                  <a:latin typeface="Source Serif 4 SemiBold" pitchFamily="34" charset="0"/>
                  <a:ea typeface="Source Serif 4 SemiBold" pitchFamily="34" charset="-122"/>
                  <a:cs typeface="Source Serif 4 SemiBold" pitchFamily="34" charset="-120"/>
                </a:rPr>
                <a:t>Boots</a:t>
              </a:r>
              <a:endParaRPr lang="en-US" sz="1800" dirty="0"/>
            </a:p>
          </p:txBody>
        </p:sp>
        <p:sp>
          <p:nvSpPr>
            <p:cNvPr id="11" name="Text 6"/>
            <p:cNvSpPr/>
            <p:nvPr/>
          </p:nvSpPr>
          <p:spPr>
            <a:xfrm>
              <a:off x="7022329" y="2764730"/>
              <a:ext cx="1709992" cy="957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550" kern="0" spc="-31" dirty="0">
                  <a:solidFill>
                    <a:srgbClr val="272525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Avg rating 3.81 • Discount-dependent (49.07%)</a:t>
              </a:r>
              <a:endParaRPr lang="en-US" sz="155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A0ED2FA-DDE2-D50B-B5FC-55D6DE4A5AA5}"/>
              </a:ext>
            </a:extLst>
          </p:cNvPr>
          <p:cNvGrpSpPr/>
          <p:nvPr/>
        </p:nvGrpSpPr>
        <p:grpSpPr>
          <a:xfrm>
            <a:off x="6496934" y="3947618"/>
            <a:ext cx="2511958" cy="1370508"/>
            <a:chOff x="8981652" y="2351782"/>
            <a:chExt cx="2511958" cy="1370508"/>
          </a:xfrm>
        </p:grpSpPr>
        <p:pic>
          <p:nvPicPr>
            <p:cNvPr id="12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981652" y="2351782"/>
              <a:ext cx="552535" cy="690662"/>
            </a:xfrm>
            <a:prstGeom prst="rect">
              <a:avLst/>
            </a:prstGeom>
          </p:spPr>
        </p:pic>
        <p:sp>
          <p:nvSpPr>
            <p:cNvPr id="13" name="Text 7"/>
            <p:cNvSpPr/>
            <p:nvPr/>
          </p:nvSpPr>
          <p:spPr>
            <a:xfrm>
              <a:off x="9783518" y="2351782"/>
              <a:ext cx="1710092" cy="293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800" kern="0" spc="-37" dirty="0">
                  <a:solidFill>
                    <a:srgbClr val="272525"/>
                  </a:solidFill>
                  <a:latin typeface="Source Serif 4 SemiBold" pitchFamily="34" charset="0"/>
                  <a:ea typeface="Source Serif 4 SemiBold" pitchFamily="34" charset="-122"/>
                  <a:cs typeface="Source Serif 4 SemiBold" pitchFamily="34" charset="-120"/>
                </a:rPr>
                <a:t>Hat</a:t>
              </a:r>
              <a:endParaRPr lang="en-US" sz="1800" dirty="0"/>
            </a:p>
          </p:txBody>
        </p:sp>
        <p:sp>
          <p:nvSpPr>
            <p:cNvPr id="14" name="Text 8"/>
            <p:cNvSpPr/>
            <p:nvPr/>
          </p:nvSpPr>
          <p:spPr>
            <a:xfrm>
              <a:off x="9783518" y="2764730"/>
              <a:ext cx="1710092" cy="957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550" kern="0" spc="-31" dirty="0">
                  <a:solidFill>
                    <a:srgbClr val="272525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Avg rating 3.81 • Highest discount share (50%)</a:t>
              </a:r>
              <a:endParaRPr lang="en-US" sz="155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453BA4B-3C22-6516-2911-ECF67EFC0C20}"/>
              </a:ext>
            </a:extLst>
          </p:cNvPr>
          <p:cNvGrpSpPr/>
          <p:nvPr/>
        </p:nvGrpSpPr>
        <p:grpSpPr>
          <a:xfrm>
            <a:off x="2880749" y="3953025"/>
            <a:ext cx="2511858" cy="1370509"/>
            <a:chOff x="698086" y="4121249"/>
            <a:chExt cx="2511858" cy="1370509"/>
          </a:xfrm>
        </p:grpSpPr>
        <p:pic>
          <p:nvPicPr>
            <p:cNvPr id="15" name="Image 4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98086" y="4121249"/>
              <a:ext cx="552535" cy="690662"/>
            </a:xfrm>
            <a:prstGeom prst="rect">
              <a:avLst/>
            </a:prstGeom>
          </p:spPr>
        </p:pic>
        <p:sp>
          <p:nvSpPr>
            <p:cNvPr id="16" name="Text 9"/>
            <p:cNvSpPr/>
            <p:nvPr/>
          </p:nvSpPr>
          <p:spPr>
            <a:xfrm>
              <a:off x="1499952" y="4121249"/>
              <a:ext cx="1709992" cy="293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800" kern="0" spc="-37" dirty="0">
                  <a:solidFill>
                    <a:srgbClr val="272525"/>
                  </a:solidFill>
                  <a:latin typeface="Source Serif 4 SemiBold" pitchFamily="34" charset="0"/>
                  <a:ea typeface="Source Serif 4 SemiBold" pitchFamily="34" charset="-122"/>
                  <a:cs typeface="Source Serif 4 SemiBold" pitchFamily="34" charset="-120"/>
                </a:rPr>
                <a:t>T-shirt</a:t>
              </a:r>
              <a:endParaRPr lang="en-US" sz="1800" dirty="0"/>
            </a:p>
          </p:txBody>
        </p:sp>
        <p:sp>
          <p:nvSpPr>
            <p:cNvPr id="17" name="Text 10"/>
            <p:cNvSpPr/>
            <p:nvPr/>
          </p:nvSpPr>
          <p:spPr>
            <a:xfrm>
              <a:off x="1499952" y="4534198"/>
              <a:ext cx="1709992" cy="957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550" kern="0" spc="-31" dirty="0">
                  <a:solidFill>
                    <a:srgbClr val="272525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Avg rating 3.78 • Discounted frequently</a:t>
              </a:r>
              <a:endParaRPr lang="en-US" sz="155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39366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kern="0" spc="-74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Shipping &amp; Membership Comparisons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749524"/>
            <a:ext cx="6846716" cy="34268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8911" y="3324530"/>
            <a:ext cx="1285879" cy="180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kern="0" spc="-23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Less Preferred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398778" y="4890346"/>
            <a:ext cx="1448324" cy="180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kern="0" spc="-23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Lower Avg Purchase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221257" y="3324530"/>
            <a:ext cx="1285880" cy="180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kern="0" spc="-23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More Preferred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394930" y="1895942"/>
            <a:ext cx="1448324" cy="180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kern="0" spc="-23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Higher Avg Purchase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616691" y="4122989"/>
            <a:ext cx="1320078" cy="30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kern="0" spc="-34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Standard: Avg $58, Broad Base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429234" y="4129829"/>
            <a:ext cx="1320078" cy="307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kern="0" spc="-34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Standard: Lower Priority vs Express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429234" y="2864437"/>
            <a:ext cx="1320078" cy="307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kern="0" spc="-34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Express: Popular, Prioritise UX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575653" y="2941386"/>
            <a:ext cx="1320078" cy="153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kern="0" spc="-34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Express: Higher Avg $60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98086" y="5400675"/>
            <a:ext cx="6846716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Express slightly higher average purchase ($60) vs Standard ($58). Prioritise Express experience.</a:t>
            </a:r>
            <a:endParaRPr lang="en-US" sz="15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7708" y="1814016"/>
            <a:ext cx="3462152" cy="297864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037708" y="5016996"/>
            <a:ext cx="3462152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Subscription: 27% Yes, 73% No. Avg spend similar (~$59) though total revenue higher for non-subscribers due to larger base.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3831" b="3688"/>
          <a:stretch>
            <a:fillRect/>
          </a:stretch>
        </p:blipFill>
        <p:spPr>
          <a:xfrm>
            <a:off x="0" y="61153"/>
            <a:ext cx="4883285" cy="67744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825500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kern="0" spc="-74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Customer Segments &amp; Loyalty</a:t>
            </a:r>
            <a:endParaRPr lang="en-US" sz="36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69971" y="2298005"/>
            <a:ext cx="1941563" cy="239315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20999" y="2447627"/>
            <a:ext cx="239310" cy="2991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kern="0" spc="-31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1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5494795" y="3095823"/>
            <a:ext cx="149191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Returning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5494795" y="3508772"/>
            <a:ext cx="1491915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701 customers — repeat purchasers.</a:t>
            </a:r>
            <a:endParaRPr lang="en-US" sz="15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10959" y="2298005"/>
            <a:ext cx="1941563" cy="239315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61987" y="2447627"/>
            <a:ext cx="239310" cy="2991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kern="0" spc="-31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2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7635783" y="3095823"/>
            <a:ext cx="149191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Loyal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7635783" y="3508772"/>
            <a:ext cx="1491915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3,116 customers — majority of base and revenue.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51947" y="2298005"/>
            <a:ext cx="1941563" cy="23931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402975" y="2447627"/>
            <a:ext cx="239310" cy="2991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kern="0" spc="-31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3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776771" y="3095823"/>
            <a:ext cx="149191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New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9776771" y="3508772"/>
            <a:ext cx="1491915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83 customers — growth opportunity.</a:t>
            </a:r>
            <a:endParaRPr lang="en-US" sz="1550" dirty="0"/>
          </a:p>
        </p:txBody>
      </p:sp>
      <p:sp>
        <p:nvSpPr>
          <p:cNvPr id="16" name="Shape 10"/>
          <p:cNvSpPr/>
          <p:nvPr/>
        </p:nvSpPr>
        <p:spPr>
          <a:xfrm>
            <a:off x="5269971" y="4915495"/>
            <a:ext cx="6223638" cy="1116905"/>
          </a:xfrm>
          <a:prstGeom prst="roundRect">
            <a:avLst>
              <a:gd name="adj" fmla="val 7501"/>
            </a:avLst>
          </a:prstGeom>
          <a:solidFill>
            <a:srgbClr val="F0D4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9396" y="5206107"/>
            <a:ext cx="249330" cy="19943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918151" y="5164733"/>
            <a:ext cx="5376033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2,500+ customers made &gt;5 purchases but remain unsubscribed — target for membership push.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06562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kern="0" spc="-74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Top Products &amp; Age Group Revenue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1991816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Top items by category (examples)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98086" y="2484536"/>
            <a:ext cx="5154484" cy="1902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Accessories: Jewelry (171), Sunglasses (161), Belt (161</a:t>
            </a:r>
            <a:r>
              <a:rPr lang="en-US" sz="1550" kern="0" spc="-3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). </a:t>
            </a:r>
            <a:endParaRPr lang="vi-VN" sz="1550" kern="0" spc="-31">
              <a:solidFill>
                <a:srgbClr val="272525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 algn="just">
              <a:lnSpc>
                <a:spcPct val="133000"/>
              </a:lnSpc>
              <a:buNone/>
            </a:pPr>
            <a:r>
              <a:rPr lang="en-US" sz="1550" kern="0" spc="-3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Clothing</a:t>
            </a: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Blouse (171), Pants (171), Shirt (169</a:t>
            </a:r>
            <a:r>
              <a:rPr lang="en-US" sz="1550" kern="0" spc="-3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). </a:t>
            </a:r>
            <a:endParaRPr lang="vi-VN" sz="1550" kern="0" spc="-31">
              <a:solidFill>
                <a:srgbClr val="272525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 algn="just">
              <a:lnSpc>
                <a:spcPct val="133000"/>
              </a:lnSpc>
              <a:buNone/>
            </a:pPr>
            <a:r>
              <a:rPr lang="en-US" sz="1550" kern="0" spc="-3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Footwear</a:t>
            </a: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Sandals (160), Shoes (150), Sneakers (145</a:t>
            </a:r>
            <a:r>
              <a:rPr lang="en-US" sz="1550" kern="0" spc="-3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). </a:t>
            </a:r>
            <a:endParaRPr lang="vi-VN" sz="1550" kern="0" spc="-31">
              <a:solidFill>
                <a:srgbClr val="272525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 algn="just">
              <a:lnSpc>
                <a:spcPct val="133000"/>
              </a:lnSpc>
              <a:buNone/>
            </a:pPr>
            <a:r>
              <a:rPr lang="en-US" sz="1550" kern="0" spc="-3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Outerwear</a:t>
            </a: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Jacket (163), Coat (161).</a:t>
            </a:r>
            <a:endParaRPr lang="en-US" sz="1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3586" b="4685"/>
          <a:stretch>
            <a:fillRect/>
          </a:stretch>
        </p:blipFill>
        <p:spPr>
          <a:xfrm>
            <a:off x="6096000" y="1811308"/>
            <a:ext cx="5684196" cy="3753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033" y="382469"/>
            <a:ext cx="10795524" cy="583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kern="0" spc="-37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Recommendations</a:t>
            </a:r>
            <a:endParaRPr lang="en-US" sz="365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BD7AB67-75A9-8ED3-F462-F9E10296CB54}"/>
              </a:ext>
            </a:extLst>
          </p:cNvPr>
          <p:cNvGrpSpPr/>
          <p:nvPr/>
        </p:nvGrpSpPr>
        <p:grpSpPr>
          <a:xfrm>
            <a:off x="698086" y="1357203"/>
            <a:ext cx="10795524" cy="598388"/>
            <a:chOff x="698086" y="1357203"/>
            <a:chExt cx="10795524" cy="598388"/>
          </a:xfrm>
        </p:grpSpPr>
        <p:sp>
          <p:nvSpPr>
            <p:cNvPr id="3" name="Shape 1"/>
            <p:cNvSpPr/>
            <p:nvPr/>
          </p:nvSpPr>
          <p:spPr>
            <a:xfrm>
              <a:off x="698086" y="1357203"/>
              <a:ext cx="398949" cy="598388"/>
            </a:xfrm>
            <a:prstGeom prst="roundRect">
              <a:avLst>
                <a:gd name="adj" fmla="val 50000"/>
              </a:avLst>
            </a:prstGeom>
            <a:solidFill>
              <a:srgbClr val="F0D4F7"/>
            </a:solidFill>
            <a:ln w="6350">
              <a:solidFill>
                <a:srgbClr val="D6BAD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 2"/>
            <p:cNvSpPr/>
            <p:nvPr/>
          </p:nvSpPr>
          <p:spPr>
            <a:xfrm>
              <a:off x="1146842" y="1400635"/>
              <a:ext cx="10346768" cy="14664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kern="0" spc="-18" dirty="0">
                  <a:solidFill>
                    <a:srgbClr val="272525"/>
                  </a:solidFill>
                  <a:latin typeface="Source Serif 4 SemiBold" pitchFamily="34" charset="0"/>
                  <a:ea typeface="Source Serif 4 SemiBold" pitchFamily="34" charset="-122"/>
                  <a:cs typeface="Source Serif 4 SemiBold" pitchFamily="34" charset="-120"/>
                </a:rPr>
                <a:t>Membership &amp; Loyalty</a:t>
              </a:r>
              <a:endParaRPr lang="en-US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1146842" y="1691918"/>
              <a:ext cx="10346768" cy="1196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550" kern="0" spc="-16" dirty="0">
                  <a:solidFill>
                    <a:srgbClr val="272525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Upgrade membership benefits and target 2,500+ frequent buyers who haven’t subscribed.</a:t>
              </a:r>
              <a:endParaRPr lang="en-US" sz="155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FABBDAC-9889-EFE8-B440-1D2706966E25}"/>
              </a:ext>
            </a:extLst>
          </p:cNvPr>
          <p:cNvGrpSpPr/>
          <p:nvPr/>
        </p:nvGrpSpPr>
        <p:grpSpPr>
          <a:xfrm>
            <a:off x="698084" y="2484486"/>
            <a:ext cx="10795526" cy="598388"/>
            <a:chOff x="698084" y="2954234"/>
            <a:chExt cx="10795526" cy="598388"/>
          </a:xfrm>
        </p:grpSpPr>
        <p:sp>
          <p:nvSpPr>
            <p:cNvPr id="6" name="Shape 4"/>
            <p:cNvSpPr/>
            <p:nvPr/>
          </p:nvSpPr>
          <p:spPr>
            <a:xfrm>
              <a:off x="698084" y="2954234"/>
              <a:ext cx="398949" cy="598388"/>
            </a:xfrm>
            <a:prstGeom prst="roundRect">
              <a:avLst>
                <a:gd name="adj" fmla="val 50000"/>
              </a:avLst>
            </a:prstGeom>
            <a:solidFill>
              <a:srgbClr val="F0D4F7"/>
            </a:solidFill>
            <a:ln w="6350">
              <a:solidFill>
                <a:srgbClr val="D6BAD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5"/>
            <p:cNvSpPr/>
            <p:nvPr/>
          </p:nvSpPr>
          <p:spPr>
            <a:xfrm>
              <a:off x="1146842" y="3007116"/>
              <a:ext cx="10346768" cy="14664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kern="0" spc="-18" dirty="0">
                  <a:solidFill>
                    <a:srgbClr val="272525"/>
                  </a:solidFill>
                  <a:latin typeface="Source Serif 4 SemiBold" pitchFamily="34" charset="0"/>
                  <a:ea typeface="Source Serif 4 SemiBold" pitchFamily="34" charset="-122"/>
                  <a:cs typeface="Source Serif 4 SemiBold" pitchFamily="34" charset="-120"/>
                </a:rPr>
                <a:t>Targeted Marketing</a:t>
              </a:r>
              <a:endParaRPr lang="en-US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1146842" y="3302616"/>
              <a:ext cx="10346768" cy="1196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550" kern="0" spc="-16" dirty="0">
                  <a:solidFill>
                    <a:srgbClr val="272525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Invest in youth-focused campaigns and tailor creatives by gender to boost high-revenue segments.</a:t>
              </a:r>
              <a:endParaRPr lang="en-US" sz="155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BE21D79-0049-453B-8C60-E4C20A6BEE6E}"/>
              </a:ext>
            </a:extLst>
          </p:cNvPr>
          <p:cNvGrpSpPr/>
          <p:nvPr/>
        </p:nvGrpSpPr>
        <p:grpSpPr>
          <a:xfrm>
            <a:off x="698085" y="3611769"/>
            <a:ext cx="10795525" cy="598388"/>
            <a:chOff x="698085" y="3636673"/>
            <a:chExt cx="10795525" cy="598388"/>
          </a:xfrm>
        </p:grpSpPr>
        <p:sp>
          <p:nvSpPr>
            <p:cNvPr id="9" name="Shape 7"/>
            <p:cNvSpPr/>
            <p:nvPr/>
          </p:nvSpPr>
          <p:spPr>
            <a:xfrm>
              <a:off x="698085" y="3636673"/>
              <a:ext cx="398949" cy="598388"/>
            </a:xfrm>
            <a:prstGeom prst="roundRect">
              <a:avLst>
                <a:gd name="adj" fmla="val 50000"/>
              </a:avLst>
            </a:prstGeom>
            <a:solidFill>
              <a:srgbClr val="F0D4F7"/>
            </a:solidFill>
            <a:ln w="6350">
              <a:solidFill>
                <a:srgbClr val="D6BAD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8AE9548-CD57-1395-D14F-CE06A97F807E}"/>
                </a:ext>
              </a:extLst>
            </p:cNvPr>
            <p:cNvGrpSpPr/>
            <p:nvPr/>
          </p:nvGrpSpPr>
          <p:grpSpPr>
            <a:xfrm>
              <a:off x="1146842" y="3674491"/>
              <a:ext cx="10346768" cy="417998"/>
              <a:chOff x="1233223" y="3602069"/>
              <a:chExt cx="10346768" cy="417998"/>
            </a:xfrm>
          </p:grpSpPr>
          <p:sp>
            <p:nvSpPr>
              <p:cNvPr id="10" name="Text 8"/>
              <p:cNvSpPr/>
              <p:nvPr/>
            </p:nvSpPr>
            <p:spPr>
              <a:xfrm>
                <a:off x="1233223" y="3602069"/>
                <a:ext cx="10346768" cy="14664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ct val="104000"/>
                  </a:lnSpc>
                  <a:buNone/>
                </a:pPr>
                <a:r>
                  <a:rPr lang="en-US" kern="0" spc="-18" dirty="0">
                    <a:solidFill>
                      <a:srgbClr val="272525"/>
                    </a:solidFill>
                    <a:latin typeface="Source Serif 4 SemiBold" pitchFamily="34" charset="0"/>
                    <a:ea typeface="Source Serif 4 SemiBold" pitchFamily="34" charset="-122"/>
                    <a:cs typeface="Source Serif 4 SemiBold" pitchFamily="34" charset="-120"/>
                  </a:rPr>
                  <a:t>Express Shipping</a:t>
                </a:r>
                <a:endParaRPr lang="en-US" dirty="0"/>
              </a:p>
            </p:txBody>
          </p:sp>
          <p:sp>
            <p:nvSpPr>
              <p:cNvPr id="11" name="Text 9"/>
              <p:cNvSpPr/>
              <p:nvPr/>
            </p:nvSpPr>
            <p:spPr>
              <a:xfrm>
                <a:off x="1233223" y="3900409"/>
                <a:ext cx="10346768" cy="11965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ct val="100000"/>
                  </a:lnSpc>
                  <a:buNone/>
                </a:pPr>
                <a:r>
                  <a:rPr lang="en-US" sz="1550" kern="0" spc="-16" dirty="0">
                    <a:solidFill>
                      <a:srgbClr val="272525"/>
                    </a:solidFill>
                    <a:latin typeface="Source Sans 3" pitchFamily="34" charset="0"/>
                    <a:ea typeface="Source Sans 3" pitchFamily="34" charset="-122"/>
                    <a:cs typeface="Source Sans 3" pitchFamily="34" charset="-120"/>
                  </a:rPr>
                  <a:t>Prioritise and expand Express options to capture slightly higher spenders.</a:t>
                </a:r>
                <a:endParaRPr lang="en-US" sz="1550" dirty="0"/>
              </a:p>
            </p:txBody>
          </p:sp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5DC94D7-7C74-C99A-187F-E59AF1428D2C}"/>
              </a:ext>
            </a:extLst>
          </p:cNvPr>
          <p:cNvGrpSpPr/>
          <p:nvPr/>
        </p:nvGrpSpPr>
        <p:grpSpPr>
          <a:xfrm>
            <a:off x="698086" y="4739052"/>
            <a:ext cx="10795524" cy="598388"/>
            <a:chOff x="698086" y="4354811"/>
            <a:chExt cx="10795524" cy="598388"/>
          </a:xfrm>
        </p:grpSpPr>
        <p:sp>
          <p:nvSpPr>
            <p:cNvPr id="12" name="Shape 10"/>
            <p:cNvSpPr/>
            <p:nvPr/>
          </p:nvSpPr>
          <p:spPr>
            <a:xfrm>
              <a:off x="698086" y="4354811"/>
              <a:ext cx="398949" cy="598388"/>
            </a:xfrm>
            <a:prstGeom prst="roundRect">
              <a:avLst>
                <a:gd name="adj" fmla="val 50000"/>
              </a:avLst>
            </a:prstGeom>
            <a:solidFill>
              <a:srgbClr val="F0D4F7"/>
            </a:solidFill>
            <a:ln w="6350">
              <a:solidFill>
                <a:srgbClr val="D6BAD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E96F3236-0F75-2793-F872-79DFF69E17BC}"/>
                </a:ext>
              </a:extLst>
            </p:cNvPr>
            <p:cNvGrpSpPr/>
            <p:nvPr/>
          </p:nvGrpSpPr>
          <p:grpSpPr>
            <a:xfrm>
              <a:off x="1146842" y="4409010"/>
              <a:ext cx="10346768" cy="394463"/>
              <a:chOff x="1146842" y="4354811"/>
              <a:chExt cx="10346768" cy="394463"/>
            </a:xfrm>
          </p:grpSpPr>
          <p:sp>
            <p:nvSpPr>
              <p:cNvPr id="13" name="Text 11"/>
              <p:cNvSpPr/>
              <p:nvPr/>
            </p:nvSpPr>
            <p:spPr>
              <a:xfrm>
                <a:off x="1146842" y="4354811"/>
                <a:ext cx="10346768" cy="14664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ct val="104000"/>
                  </a:lnSpc>
                  <a:buNone/>
                </a:pPr>
                <a:r>
                  <a:rPr lang="en-US" kern="0" spc="-18" dirty="0">
                    <a:solidFill>
                      <a:srgbClr val="272525"/>
                    </a:solidFill>
                    <a:latin typeface="Source Serif 4 SemiBold" pitchFamily="34" charset="0"/>
                    <a:ea typeface="Source Serif 4 SemiBold" pitchFamily="34" charset="-122"/>
                    <a:cs typeface="Source Serif 4 SemiBold" pitchFamily="34" charset="-120"/>
                  </a:rPr>
                  <a:t>Product &amp; Pricing</a:t>
                </a:r>
                <a:endParaRPr lang="en-US" dirty="0"/>
              </a:p>
            </p:txBody>
          </p:sp>
          <p:sp>
            <p:nvSpPr>
              <p:cNvPr id="14" name="Text 12"/>
              <p:cNvSpPr/>
              <p:nvPr/>
            </p:nvSpPr>
            <p:spPr>
              <a:xfrm>
                <a:off x="1146842" y="4629616"/>
                <a:ext cx="10346768" cy="11965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ct val="100000"/>
                  </a:lnSpc>
                  <a:buNone/>
                </a:pPr>
                <a:r>
                  <a:rPr lang="en-US" sz="1550" kern="0" spc="-16" dirty="0">
                    <a:solidFill>
                      <a:srgbClr val="272525"/>
                    </a:solidFill>
                    <a:latin typeface="Source Sans 3" pitchFamily="34" charset="0"/>
                    <a:ea typeface="Source Sans 3" pitchFamily="34" charset="-122"/>
                    <a:cs typeface="Source Sans 3" pitchFamily="34" charset="-120"/>
                  </a:rPr>
                  <a:t>Promote top-rated bestsellers and consider premium pricing where demand and ratings support it.</a:t>
                </a:r>
                <a:endParaRPr lang="en-US" sz="1550" dirty="0"/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183911B-C9EC-D77A-3B10-4DB6282A4FFD}"/>
              </a:ext>
            </a:extLst>
          </p:cNvPr>
          <p:cNvGrpSpPr/>
          <p:nvPr/>
        </p:nvGrpSpPr>
        <p:grpSpPr>
          <a:xfrm>
            <a:off x="698086" y="5866336"/>
            <a:ext cx="10795524" cy="598388"/>
            <a:chOff x="648279" y="5866336"/>
            <a:chExt cx="10795524" cy="598388"/>
          </a:xfrm>
        </p:grpSpPr>
        <p:sp>
          <p:nvSpPr>
            <p:cNvPr id="15" name="Shape 13"/>
            <p:cNvSpPr/>
            <p:nvPr/>
          </p:nvSpPr>
          <p:spPr>
            <a:xfrm>
              <a:off x="648279" y="5866336"/>
              <a:ext cx="398949" cy="598388"/>
            </a:xfrm>
            <a:prstGeom prst="roundRect">
              <a:avLst>
                <a:gd name="adj" fmla="val 50000"/>
              </a:avLst>
            </a:prstGeom>
            <a:solidFill>
              <a:srgbClr val="F0D4F7"/>
            </a:solidFill>
            <a:ln w="6350">
              <a:solidFill>
                <a:srgbClr val="D6BAD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66E97AA-E773-A8D7-C6B7-A8EC4D06BBAB}"/>
                </a:ext>
              </a:extLst>
            </p:cNvPr>
            <p:cNvGrpSpPr/>
            <p:nvPr/>
          </p:nvGrpSpPr>
          <p:grpSpPr>
            <a:xfrm>
              <a:off x="1097035" y="5950397"/>
              <a:ext cx="10346768" cy="359023"/>
              <a:chOff x="1097035" y="5866336"/>
              <a:chExt cx="10346768" cy="359023"/>
            </a:xfrm>
          </p:grpSpPr>
          <p:sp>
            <p:nvSpPr>
              <p:cNvPr id="16" name="Text 14"/>
              <p:cNvSpPr/>
              <p:nvPr/>
            </p:nvSpPr>
            <p:spPr>
              <a:xfrm>
                <a:off x="1097035" y="5866336"/>
                <a:ext cx="10346768" cy="14664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ct val="104000"/>
                  </a:lnSpc>
                  <a:buNone/>
                </a:pPr>
                <a:r>
                  <a:rPr lang="en-US" kern="0" spc="-18" dirty="0">
                    <a:solidFill>
                      <a:srgbClr val="272525"/>
                    </a:solidFill>
                    <a:latin typeface="Source Serif 4 SemiBold" pitchFamily="34" charset="0"/>
                    <a:ea typeface="Source Serif 4 SemiBold" pitchFamily="34" charset="-122"/>
                    <a:cs typeface="Source Serif 4 SemiBold" pitchFamily="34" charset="-120"/>
                  </a:rPr>
                  <a:t>Discount Policy</a:t>
                </a:r>
                <a:endParaRPr lang="en-US" dirty="0"/>
              </a:p>
            </p:txBody>
          </p:sp>
          <p:sp>
            <p:nvSpPr>
              <p:cNvPr id="17" name="Text 15"/>
              <p:cNvSpPr/>
              <p:nvPr/>
            </p:nvSpPr>
            <p:spPr>
              <a:xfrm>
                <a:off x="1097035" y="6105701"/>
                <a:ext cx="10346768" cy="11965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ct val="100000"/>
                  </a:lnSpc>
                  <a:buNone/>
                </a:pPr>
                <a:r>
                  <a:rPr lang="en-US" sz="1550" kern="0" spc="-16" dirty="0">
                    <a:solidFill>
                      <a:srgbClr val="272525"/>
                    </a:solidFill>
                    <a:latin typeface="Source Sans 3" pitchFamily="34" charset="0"/>
                    <a:ea typeface="Source Sans 3" pitchFamily="34" charset="-122"/>
                    <a:cs typeface="Source Sans 3" pitchFamily="34" charset="-120"/>
                  </a:rPr>
                  <a:t>Review discount dependence on certain products to protect margins and product perception.</a:t>
                </a:r>
                <a:endParaRPr lang="en-US" sz="1550" dirty="0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610</Words>
  <Application>Microsoft Office PowerPoint</Application>
  <PresentationFormat>Widescreen</PresentationFormat>
  <Paragraphs>87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Source Serif 4 SemiBold</vt:lpstr>
      <vt:lpstr>Source Sans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Nguyen Hai</cp:lastModifiedBy>
  <cp:revision>2</cp:revision>
  <dcterms:created xsi:type="dcterms:W3CDTF">2026-09-04T11:04:54Z</dcterms:created>
  <dcterms:modified xsi:type="dcterms:W3CDTF">2026-09-04T13:24:30Z</dcterms:modified>
</cp:coreProperties>
</file>